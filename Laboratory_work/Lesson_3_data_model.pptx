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9" r:id="rId13"/>
    <p:sldId id="263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3" r:id="rId23"/>
    <p:sldId id="277" r:id="rId24"/>
    <p:sldId id="284" r:id="rId25"/>
    <p:sldId id="285" r:id="rId26"/>
    <p:sldId id="286" r:id="rId27"/>
    <p:sldId id="287" r:id="rId28"/>
    <p:sldId id="288" r:id="rId29"/>
    <p:sldId id="278" r:id="rId30"/>
    <p:sldId id="289" r:id="rId31"/>
    <p:sldId id="279" r:id="rId32"/>
    <p:sldId id="282" r:id="rId33"/>
    <p:sldId id="290" r:id="rId34"/>
    <p:sldId id="291" r:id="rId35"/>
    <p:sldId id="292" r:id="rId36"/>
    <p:sldId id="280" r:id="rId37"/>
    <p:sldId id="293" r:id="rId3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63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67" autoAdjust="0"/>
    <p:restoredTop sz="79292" autoAdjust="0"/>
  </p:normalViewPr>
  <p:slideViewPr>
    <p:cSldViewPr snapToGrid="0">
      <p:cViewPr varScale="1">
        <p:scale>
          <a:sx n="65" d="100"/>
          <a:sy n="65" d="100"/>
        </p:scale>
        <p:origin x="112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EA7678-27A8-495D-AC73-B8A63478653D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984E1-0425-4387-BBCD-B8DD68A3B7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638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разобрали пирамиду DIKW, поняли, как сырые данные превращаются в знания. Мы говорили о качестве данных и триаде CIA, учились оценивать, насколько наш "материал" чист, полон и безопасен. Мы даже научились добывать из этого материала признаки.</a:t>
            </a:r>
          </a:p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до сих пор мы смотрели на данные как на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сырье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Как на глину. Мы оценивали её вес, влажность и чистоту. Но глина сама по себе не отвечает на вопросы бизнеса. Чтобы из неё можно было что-то построить, ей нужна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Именно формой мы и займемся сегодня. Мы переходим к теме "Модель данных"».</a:t>
            </a:r>
          </a:p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Запомните: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инженерии данных не существует единственно верной модели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Возьмите любую предметную область — хоть ритейл, хоть телеком, хоть банк. Для неё можно построить десятки 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абсолютно корректных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моделей. Третья нормальная форма, звезда, снежинка, Data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Vault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графы — всё это будет "правильно" с точки зрения математики и теории баз данных</a:t>
            </a:r>
          </a:p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«Выбор делает не "правильность". Выбор делают две вещи:</a:t>
            </a:r>
          </a:p>
          <a:p>
            <a:pPr lvl="0" rtl="0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Список вопросов бизнеса.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Если бизнесу нужно узнать "сколько мы продали вчера" — это одна модель. Если вопрос звучит как "какой LTV у клиента с учетом всех кросс-продаж и сезонности за последние 5 лет" — модель будет совершенно иной.</a:t>
            </a:r>
          </a:p>
          <a:p>
            <a:pPr lvl="0" rtl="0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Список изменений.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Бизнес не стоит на месте. Завтра появится новый продукт, послезавтра мы купим конкурента, через месяц изменится законодательство. Хорошая модель данных — это не та, которая идеальна сегодня. Это та, которая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обязана пережить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будущие изменения бизнеса без капитальной переделки и ночных деплоев».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984E1-0425-4387-BBCD-B8DD68A3B7E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281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4A223-6B42-DFBB-94F2-B943C0B58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245110A-5D84-CB73-31A8-F8610E50C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888DB7F-BD3A-3CFD-CCD5-D8E884426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разобрали пирамиду DIKW, поняли, как сырые данные превращаются в знания. Мы говорили о качестве данных и триаде CIA, учились оценивать, насколько наш "материал" чист, полон и безопасен. Мы даже научились добывать из этого материала признаки.</a:t>
            </a:r>
          </a:p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до сих пор мы смотрели на данные как на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сырье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Как на глину. Мы оценивали её вес, влажность и чистоту. Но глина сама по себе не отвечает на вопросы бизнеса. Чтобы из неё можно было что-то построить, ей нужна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Именно формой мы и займемся сегодня. Мы переходим к теме "Модель данных"».</a:t>
            </a:r>
          </a:p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Запомните: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инженерии данных не существует единственно верной модели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Возьмите любую предметную область — хоть ритейл, хоть телеком, хоть банк. Для неё можно построить десятки 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абсолютно корректных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моделей. Третья нормальная форма, звезда, снежинка, Data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Vault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графы — всё это будет "правильно" с точки зрения математики и теории баз данных</a:t>
            </a:r>
          </a:p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«Выбор делает не "правильность". Выбор делают две вещи:</a:t>
            </a:r>
          </a:p>
          <a:p>
            <a:pPr lvl="0" rtl="0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Список вопросов бизнеса.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Если бизнесу нужно узнать "сколько мы продали вчера" — это одна модель. Если вопрос звучит как "какой LTV у клиента с учетом всех кросс-продаж и сезонности за последние 5 лет" — модель будет совершенно иной.</a:t>
            </a:r>
          </a:p>
          <a:p>
            <a:pPr lvl="0" rtl="0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Список изменений.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Бизнес не стоит на месте. Завтра появится новый продукт, послезавтра мы купим конкурента, через месяц изменится законодательство. Хорошая модель данных — это не та, которая идеальна сегодня. Это та, которая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обязана пережить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будущие изменения бизнеса без капитальной переделки и ночных деплоев».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BDA34D-0C10-8C8D-0E9B-F1A595804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984E1-0425-4387-BBCD-B8DD68A3B7E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5101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984E1-0425-4387-BBCD-B8DD68A3B7EF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5418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095D39-037B-7A55-16D6-273E620B8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8495DC3-69EF-3357-CDC0-7B2B34975A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3246C8-7E44-BDA6-D274-251FD115E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D38CE-A918-41D8-A3C0-1B55990EB06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F25EC6-6212-38F4-0107-27DC1D968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A0DEB3-AC5B-AE07-BC1B-0F433C461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A906-012F-4074-8863-DF58C2E5E2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41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ED10A3-8A7F-3C03-10E1-31D3FEDCC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9BE1B1-F6B4-2196-335C-B6A776087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CFF2CF-32D6-A606-C9A9-751940DD9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D38CE-A918-41D8-A3C0-1B55990EB06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B1A049-EC58-6AA3-5C12-43C52D49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3D875F-9F73-8048-0DE8-8CEA17EEE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A906-012F-4074-8863-DF58C2E5E2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980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508544-DD5A-DFF3-C11E-D67C0EBED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7D8F84A-9FC7-365D-39C4-6ABA64A3F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1E7C92-36ED-B931-D8B4-1A9A031D7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D38CE-A918-41D8-A3C0-1B55990EB06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ABFA07-EEB6-2EBC-04EB-EE14B2788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239D36-7316-A8E5-4D3C-08ED5138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A906-012F-4074-8863-DF58C2E5E2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550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3E5E23-DC2E-889D-81D0-27750CEFE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EC5A38-499A-CD37-371F-637ACCB710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B984767-3CB0-2C69-7E43-4DD67D897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296BF6-83A4-1EBA-D271-B7F9AFD32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D38CE-A918-41D8-A3C0-1B55990EB06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74866D-4584-1164-6119-EA64417EF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3FDE26-6D86-3259-69BC-4523C3341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A906-012F-4074-8863-DF58C2E5E2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015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AE05DB-A565-61D0-2036-D185D0F7D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6B9F44-2577-A39E-14BA-426CC2227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850817-EA59-4822-94CE-82799F91B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D3898C3-D1A1-92CF-F7E0-A97060E782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1305F62-55CB-8031-9E6F-64A4CCB86C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AD3C05A-F1A2-EFF8-41B4-DEAF9EDD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D38CE-A918-41D8-A3C0-1B55990EB06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E3025B4-6D25-8E6B-769F-4D4527FC2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AF0E334-2256-C3F2-EC25-D2C7C43C3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A906-012F-4074-8863-DF58C2E5E2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564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FBB2F9-D519-FFE0-3324-F3F8A3202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43BF0CC-3C22-0BD8-7856-D2297B52E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D38CE-A918-41D8-A3C0-1B55990EB06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6095C4B-AEBD-C287-6CA1-78CD664BC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AAF7C59-1BA6-4DD3-1642-B7B86CE68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A906-012F-4074-8863-DF58C2E5E2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1728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2840136-C62A-440E-6E62-603E58EEA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D38CE-A918-41D8-A3C0-1B55990EB06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45B46AF-2402-8651-DC0C-FB0D64217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703E48-7A54-5F32-C019-AEE025D3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A906-012F-4074-8863-DF58C2E5E2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1866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881B-FF9F-B0BF-3C10-26A4AA531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3AA40E-13E1-C4EB-B4B2-A3B7DCF97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F7BAA04-C244-0367-92EB-BBD1BA391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AEA770-3755-87C3-53BB-00467A16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D38CE-A918-41D8-A3C0-1B55990EB06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6458B9F-21BF-603B-93E5-139B88598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9D8EB4-66B8-D34B-B9B5-69D624219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A906-012F-4074-8863-DF58C2E5E2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993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DD7214-8E5F-AE68-77C0-A3FE286A4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1FBA6DD-18E8-73F8-0D96-FE095D14CC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09AAE8-55BB-AD62-929C-0A6DCCBF8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A712B9-9C86-DB34-0AC1-3DD02FF8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D38CE-A918-41D8-A3C0-1B55990EB06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47B4C0-624C-2797-013D-B5047D2E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826FEB-CB0C-4264-950C-61B5EB6CB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A906-012F-4074-8863-DF58C2E5E2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88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22EA01-FC30-FFD6-0134-ED5EE1187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064BFDA-AB95-4335-23B2-2272AD563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63BCBC-A484-2AAD-63C2-77273D25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D38CE-A918-41D8-A3C0-1B55990EB06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BD0C4E-9F67-332C-27B0-2C729CB8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3DA69C-78E3-562C-0398-0421E53C0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A906-012F-4074-8863-DF58C2E5E2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167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4891C86-8791-0D7C-BDAF-0A6FF642C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7EFE90-D4F7-5E19-633D-3E212B72E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17956D-C97A-A1E8-CA45-862DFD45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D38CE-A918-41D8-A3C0-1B55990EB06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2C995E-D505-6A30-3F8E-A88BCE2E4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588EAF-DD67-F8CE-D7BF-09062C76E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A906-012F-4074-8863-DF58C2E5E2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364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57FE5A-1DC3-33CA-5774-EAB96EBAC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A2E711-246B-DA34-DF9B-7957BB098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D4DA04-098C-FA96-EF9D-175582E773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D38CE-A918-41D8-A3C0-1B55990EB06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92C0F7-5B8A-1495-89A0-0ED65401CC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738CD1-4152-E774-0ED1-807CC0B79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92A906-012F-4074-8863-DF58C2E5E2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0371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927F87-FC47-22AE-18FA-67FC83255B14}"/>
              </a:ext>
            </a:extLst>
          </p:cNvPr>
          <p:cNvSpPr txBox="1"/>
          <p:nvPr/>
        </p:nvSpPr>
        <p:spPr>
          <a:xfrm>
            <a:off x="527538" y="1582615"/>
            <a:ext cx="111955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/>
              <a:t>Лекция 3. Модели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235399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2696E3-2B1B-02A5-2C64-5DDBAA2211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202"/>
          <a:stretch>
            <a:fillRect/>
          </a:stretch>
        </p:blipFill>
        <p:spPr>
          <a:xfrm>
            <a:off x="0" y="0"/>
            <a:ext cx="12192000" cy="418854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951B3AA-8CC6-B9B4-3E71-5A177109E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81" y="4187136"/>
            <a:ext cx="2414134" cy="25207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84737C-D18A-34F9-4AEF-3E31E0A6891F}"/>
              </a:ext>
            </a:extLst>
          </p:cNvPr>
          <p:cNvSpPr txBox="1"/>
          <p:nvPr/>
        </p:nvSpPr>
        <p:spPr>
          <a:xfrm>
            <a:off x="3280228" y="4368799"/>
            <a:ext cx="51670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>
                <a:solidFill>
                  <a:srgbClr val="2263AF"/>
                </a:solidFill>
              </a:rPr>
              <a:t>Приложение</a:t>
            </a:r>
            <a:r>
              <a:rPr lang="ru-RU" sz="3600">
                <a:solidFill>
                  <a:srgbClr val="2263AF"/>
                </a:solidFill>
              </a:rPr>
              <a:t> – расписание РУТ МИИТ</a:t>
            </a:r>
            <a:endParaRPr lang="ru-RU" sz="3600" dirty="0">
              <a:solidFill>
                <a:srgbClr val="2263A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0622CB-42D1-8879-B846-72C9CFE03CB7}"/>
              </a:ext>
            </a:extLst>
          </p:cNvPr>
          <p:cNvSpPr txBox="1"/>
          <p:nvPr/>
        </p:nvSpPr>
        <p:spPr>
          <a:xfrm>
            <a:off x="3280228" y="5593799"/>
            <a:ext cx="47606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/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Артемий Воронин — победитель конкурса стартапов ФСИ «Создание интеллектуальной системы мониторинга расписания»</a:t>
            </a:r>
            <a:endParaRPr lang="ru-RU" sz="1200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E1F637E-F206-FBE0-4A66-449B57BB69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007" r="26131"/>
          <a:stretch>
            <a:fillRect/>
          </a:stretch>
        </p:blipFill>
        <p:spPr>
          <a:xfrm>
            <a:off x="8150942" y="3267162"/>
            <a:ext cx="3195484" cy="328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98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B22F01-EC9B-FC44-38F5-AC253251E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3887"/>
            <a:ext cx="12192000" cy="56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443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68BAD9B-C192-7ECE-3C7F-EE1319C7C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7550"/>
            <a:ext cx="12192000" cy="59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795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7757E-7803-0D6A-40CF-D5D5454F9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6600B7-CD73-B4A9-1DDC-B41BF0196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6102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DB6B32-25A8-823F-B279-C34088041866}"/>
              </a:ext>
            </a:extLst>
          </p:cNvPr>
          <p:cNvSpPr txBox="1"/>
          <p:nvPr/>
        </p:nvSpPr>
        <p:spPr>
          <a:xfrm>
            <a:off x="0" y="5610225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0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Мы проектируем модель данных </a:t>
            </a:r>
            <a:r>
              <a:rPr lang="ru-RU" sz="1800" b="1" i="0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строго под конкретные вопросы бизнеса</a:t>
            </a:r>
            <a:r>
              <a:rPr lang="ru-RU" sz="1800" i="0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. Если бизнесу нужно знать «выручку по месяцам», мы не создаем 10 мелких таблиц. Мы сразу создаем одну широкую, удобную таблицу (витрину данных), где уже есть готовые столбцы: </a:t>
            </a:r>
            <a:r>
              <a:rPr lang="ru-RU" i="0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месяц</a:t>
            </a:r>
            <a:r>
              <a:rPr lang="ru-RU" sz="1800" i="0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, </a:t>
            </a:r>
            <a:r>
              <a:rPr lang="ru-RU" i="0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город</a:t>
            </a:r>
            <a:r>
              <a:rPr lang="ru-RU" sz="1800" i="0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, </a:t>
            </a:r>
            <a:r>
              <a:rPr lang="ru-RU" i="0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сумма выручки</a:t>
            </a:r>
            <a:r>
              <a:rPr lang="ru-RU" sz="1800" i="0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. Запрос будет выполняться мгновенно.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391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A9A463-8330-035E-65F3-52AB09757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667"/>
            <a:ext cx="12192000" cy="664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85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74F6E6-580A-6384-0D7C-911C6E754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4" y="0"/>
            <a:ext cx="109015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589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75E9EA-43B3-B3AE-6438-FD515B808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95" y="0"/>
            <a:ext cx="116984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68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303D28-54FA-6B48-8657-81A4CED7B613}"/>
              </a:ext>
            </a:extLst>
          </p:cNvPr>
          <p:cNvSpPr txBox="1"/>
          <p:nvPr/>
        </p:nvSpPr>
        <p:spPr>
          <a:xfrm>
            <a:off x="203752" y="147217"/>
            <a:ext cx="1198824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i="0" dirty="0">
                <a:solidFill>
                  <a:schemeClr val="accent1">
                    <a:lumMod val="50000"/>
                  </a:schemeClr>
                </a:solidFill>
                <a:effectLst/>
                <a:latin typeface="YS Text"/>
              </a:rPr>
              <a:t>Нотация Чена.</a:t>
            </a:r>
            <a:r>
              <a:rPr lang="ru-RU" sz="2800" b="0" i="0" dirty="0">
                <a:solidFill>
                  <a:schemeClr val="accent1">
                    <a:lumMod val="50000"/>
                  </a:schemeClr>
                </a:solidFill>
                <a:effectLst/>
                <a:latin typeface="YS Text"/>
              </a:rPr>
              <a:t> Классическая нотация, которая состоит из простых символов — прямоугольников, овалов и линий. Из-за этого нотацию часто используют для концептуальных моделей, которые презентуют заказчику. Человеку, который далёк от аналитики данных, проще разобраться в понятных диаграммах со знакомыми символами.</a:t>
            </a:r>
            <a:br>
              <a:rPr lang="ru-RU" sz="2800" dirty="0">
                <a:solidFill>
                  <a:schemeClr val="accent1">
                    <a:lumMod val="50000"/>
                  </a:schemeClr>
                </a:solidFill>
              </a:rPr>
            </a:br>
            <a:endParaRPr lang="ru-RU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812BBF38-B6E4-101A-93E7-90FC42337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309" y="2544566"/>
            <a:ext cx="5733382" cy="372648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C4DAE83-6D1F-B447-BB62-692FAA02FCCF}"/>
              </a:ext>
            </a:extLst>
          </p:cNvPr>
          <p:cNvSpPr txBox="1"/>
          <p:nvPr/>
        </p:nvSpPr>
        <p:spPr>
          <a:xfrm>
            <a:off x="0" y="6488668"/>
            <a:ext cx="104615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https://practicum.yandex.ru/blog/chto-takoe-er-diagramma/#simvoly-i-notacii</a:t>
            </a:r>
          </a:p>
        </p:txBody>
      </p:sp>
    </p:spTree>
    <p:extLst>
      <p:ext uri="{BB962C8B-B14F-4D97-AF65-F5344CB8AC3E}">
        <p14:creationId xmlns:p14="http://schemas.microsoft.com/office/powerpoint/2010/main" val="2754685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диаграмма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11E8F4E-C6A9-0ABF-E520-C86D69FA2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1309687"/>
            <a:ext cx="11382375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244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ECA9AC-FC91-5870-CB09-7C32558AD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247"/>
            <a:ext cx="12192000" cy="640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949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493214-8E17-ADCF-2B2D-1D38DA16B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13" y="0"/>
            <a:ext cx="119227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936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6E67BAC-D088-77E7-192F-31D044A0AE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3101"/>
          <a:stretch>
            <a:fillRect/>
          </a:stretch>
        </p:blipFill>
        <p:spPr>
          <a:xfrm>
            <a:off x="347253" y="223326"/>
            <a:ext cx="11164809" cy="1125415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79F9BF7-E7B0-114B-D895-D24A814F8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458" y="1348741"/>
            <a:ext cx="8266398" cy="53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460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E037916-13D0-D867-DB37-3155A0242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0"/>
            <a:ext cx="10953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74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6B503F-1C5F-A111-2E4E-EB4C1A183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927"/>
            <a:ext cx="12192000" cy="643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1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1B4447-03F4-709D-FAE0-A2FD545EC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70" y="1486999"/>
            <a:ext cx="11898191" cy="480664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315E135-CAB6-028C-97D9-50581EC4A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70" y="564355"/>
            <a:ext cx="94488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378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65AB96-FEDC-7B97-162D-02684C3E7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66" y="1128712"/>
            <a:ext cx="12159200" cy="558861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E92197B-54E1-EE31-635A-D35245D33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3340"/>
            <a:ext cx="94488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158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0E7D8B-ED42-9E37-947C-2D01F772338A}"/>
              </a:ext>
            </a:extLst>
          </p:cNvPr>
          <p:cNvSpPr txBox="1"/>
          <p:nvPr/>
        </p:nvSpPr>
        <p:spPr>
          <a:xfrm>
            <a:off x="339969" y="252443"/>
            <a:ext cx="11148646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Ключ</a:t>
            </a:r>
            <a:r>
              <a:rPr lang="ru-RU" sz="2800" dirty="0"/>
              <a:t> – один или несколько атрибутов сущности, служащих для однозначной идентификации ее экземпляров, их быстрого поиска или задания связи между экземплярами родительской и дочерней сущностей. </a:t>
            </a:r>
          </a:p>
          <a:p>
            <a:r>
              <a:rPr lang="ru-RU" sz="2800" dirty="0"/>
              <a:t>• </a:t>
            </a:r>
            <a:r>
              <a:rPr lang="ru-RU" sz="2800" b="1" dirty="0" err="1"/>
              <a:t>суперключ</a:t>
            </a:r>
            <a:r>
              <a:rPr lang="ru-RU" sz="2800" dirty="0"/>
              <a:t> (</a:t>
            </a:r>
            <a:r>
              <a:rPr lang="ru-RU" sz="2800" dirty="0" err="1"/>
              <a:t>superkey</a:t>
            </a:r>
            <a:r>
              <a:rPr lang="ru-RU" sz="2800" dirty="0"/>
              <a:t>) – атрибут или множество атрибутов, которое единственным образом идентифицирует экземпляр сущности. • </a:t>
            </a:r>
            <a:r>
              <a:rPr lang="ru-RU" sz="2800" b="1" dirty="0"/>
              <a:t>потенциальный ключ </a:t>
            </a:r>
            <a:r>
              <a:rPr lang="ru-RU" sz="2800" dirty="0"/>
              <a:t>(</a:t>
            </a:r>
            <a:r>
              <a:rPr lang="ru-RU" sz="2800" dirty="0" err="1"/>
              <a:t>potential</a:t>
            </a:r>
            <a:r>
              <a:rPr lang="ru-RU" sz="2800" dirty="0"/>
              <a:t> </a:t>
            </a:r>
            <a:r>
              <a:rPr lang="ru-RU" sz="2800" dirty="0" err="1"/>
              <a:t>key</a:t>
            </a:r>
            <a:r>
              <a:rPr lang="ru-RU" sz="2800" dirty="0"/>
              <a:t>) – </a:t>
            </a:r>
            <a:r>
              <a:rPr lang="ru-RU" sz="2800" dirty="0" err="1"/>
              <a:t>суперключ</a:t>
            </a:r>
            <a:r>
              <a:rPr lang="ru-RU" sz="2800" dirty="0"/>
              <a:t>, который не содержит подмножества, также являющегося </a:t>
            </a:r>
            <a:r>
              <a:rPr lang="ru-RU" sz="2800" dirty="0" err="1"/>
              <a:t>суперключом</a:t>
            </a:r>
            <a:r>
              <a:rPr lang="ru-RU" sz="2800" dirty="0"/>
              <a:t> данной сущности, т. е. </a:t>
            </a:r>
            <a:r>
              <a:rPr lang="ru-RU" sz="2800" dirty="0" err="1"/>
              <a:t>суперключ</a:t>
            </a:r>
            <a:r>
              <a:rPr lang="ru-RU" sz="2800" dirty="0"/>
              <a:t>, содержащий минимально необходимый набор атрибутов, единственным образом идентифицирующих экземпляр сущности. </a:t>
            </a:r>
          </a:p>
          <a:p>
            <a:r>
              <a:rPr lang="ru-RU" sz="2800" dirty="0"/>
              <a:t>• </a:t>
            </a:r>
            <a:r>
              <a:rPr lang="ru-RU" sz="2800" b="1" dirty="0"/>
              <a:t>первичный ключ (</a:t>
            </a:r>
            <a:r>
              <a:rPr lang="ru-RU" sz="2800" dirty="0" err="1"/>
              <a:t>primary</a:t>
            </a:r>
            <a:r>
              <a:rPr lang="ru-RU" sz="2800" dirty="0"/>
              <a:t> </a:t>
            </a:r>
            <a:r>
              <a:rPr lang="ru-RU" sz="2800" dirty="0" err="1"/>
              <a:t>key</a:t>
            </a:r>
            <a:r>
              <a:rPr lang="ru-RU" sz="2800" dirty="0"/>
              <a:t>) – потенциальный ключ, который выбран для уникальной идентификации экземпляров внутри сущности; </a:t>
            </a:r>
          </a:p>
          <a:p>
            <a:r>
              <a:rPr lang="ru-RU" sz="2800" dirty="0"/>
              <a:t>• </a:t>
            </a:r>
            <a:r>
              <a:rPr lang="ru-RU" sz="2800" b="1" dirty="0"/>
              <a:t>альтернативные ключи </a:t>
            </a:r>
            <a:r>
              <a:rPr lang="ru-RU" sz="2800" dirty="0"/>
              <a:t>(</a:t>
            </a:r>
            <a:r>
              <a:rPr lang="ru-RU" sz="2800" dirty="0" err="1"/>
              <a:t>alternative</a:t>
            </a:r>
            <a:r>
              <a:rPr lang="ru-RU" sz="2800" dirty="0"/>
              <a:t> </a:t>
            </a:r>
            <a:r>
              <a:rPr lang="ru-RU" sz="2800" dirty="0" err="1"/>
              <a:t>key</a:t>
            </a:r>
            <a:r>
              <a:rPr lang="ru-RU" sz="2800" dirty="0"/>
              <a:t>) – потенциальные ключи, которые не выбраны в качестве первичного ключа.</a:t>
            </a:r>
          </a:p>
        </p:txBody>
      </p:sp>
    </p:spTree>
    <p:extLst>
      <p:ext uri="{BB962C8B-B14F-4D97-AF65-F5344CB8AC3E}">
        <p14:creationId xmlns:p14="http://schemas.microsoft.com/office/powerpoint/2010/main" val="2231063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E25398-8A2B-205D-1C16-F16332D46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40" y="745331"/>
            <a:ext cx="11684660" cy="611266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D0E4EDB-C405-469E-509B-21C290022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3340"/>
            <a:ext cx="94488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5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CFBB81-68C4-1B3E-E3FF-069B88787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41"/>
            <a:ext cx="12192000" cy="636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241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5B8F7D-9299-F4F5-3906-ACAC77F21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47" y="0"/>
            <a:ext cx="118229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893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2E2ED6-F9AA-CCE6-DDF5-81A062D79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48573"/>
            <a:ext cx="12192000" cy="156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456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0C8CA02-0013-F358-D9FD-1763D1382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033"/>
            <a:ext cx="12192000" cy="652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6505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17A845-C4EA-8C63-3EC4-3EA33D8B6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2208"/>
            <a:ext cx="12192000" cy="599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768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1ECA0D-B19B-2B3B-2C79-C5B81A9C7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7884"/>
            <a:ext cx="12192000" cy="624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729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F94ABA-9D16-8554-3A5B-371E7F825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8855"/>
            <a:ext cx="12192000" cy="169303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B43FDEF-0068-89D0-05F2-7AC9381550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9554"/>
          <a:stretch>
            <a:fillRect/>
          </a:stretch>
        </p:blipFill>
        <p:spPr>
          <a:xfrm>
            <a:off x="0" y="2458764"/>
            <a:ext cx="12192000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931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632F1B7-599D-95DB-16CC-C96BE95B7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33052"/>
            <a:ext cx="12192000" cy="296278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20ECC01-C8B1-087C-9F15-CCE7A7281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8855"/>
            <a:ext cx="12192000" cy="169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039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567B8-1878-BC2D-0EEE-B0640E769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6F0F5C-6712-68A1-99D0-A83D462B9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880CD7-A5FB-88DC-53A7-4B166FF44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8EEB42-69FB-C5F8-D424-39F30AA84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0627"/>
            <a:ext cx="12192000" cy="305670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D8D4E79-AE37-0FCD-974B-702F2760D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8855"/>
            <a:ext cx="12192000" cy="169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4454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F49C0A-3656-53A2-2ED9-122F9767C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07" y="0"/>
            <a:ext cx="113493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2684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C4F9B5-F944-F5BD-B7D0-413878BD6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94"/>
            <a:ext cx="12192000" cy="684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9180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654ABB3-4615-F4CB-86E8-12CB9AFFF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7" y="0"/>
            <a:ext cx="117209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6605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C454C-8425-BC92-3AE8-142EB7973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946FA1-7CE8-7377-9FF1-B21C26863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4" y="0"/>
            <a:ext cx="10901592" cy="6858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E6547B8D-5B93-688F-02AE-3E67CA80FDEC}"/>
              </a:ext>
            </a:extLst>
          </p:cNvPr>
          <p:cNvSpPr/>
          <p:nvPr/>
        </p:nvSpPr>
        <p:spPr>
          <a:xfrm>
            <a:off x="645204" y="1301262"/>
            <a:ext cx="3522350" cy="2848707"/>
          </a:xfrm>
          <a:prstGeom prst="roundRect">
            <a:avLst/>
          </a:prstGeom>
          <a:solidFill>
            <a:srgbClr val="92D050">
              <a:alpha val="3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6BA260C-4122-ABD3-53EB-D44CB6CAE2D4}"/>
              </a:ext>
            </a:extLst>
          </p:cNvPr>
          <p:cNvSpPr/>
          <p:nvPr/>
        </p:nvSpPr>
        <p:spPr>
          <a:xfrm>
            <a:off x="4334825" y="1301261"/>
            <a:ext cx="3522350" cy="2848707"/>
          </a:xfrm>
          <a:prstGeom prst="roundRect">
            <a:avLst/>
          </a:prstGeom>
          <a:solidFill>
            <a:srgbClr val="92D050">
              <a:alpha val="3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4CC9470-0020-96F4-DD5A-7334126885A8}"/>
              </a:ext>
            </a:extLst>
          </p:cNvPr>
          <p:cNvSpPr/>
          <p:nvPr/>
        </p:nvSpPr>
        <p:spPr>
          <a:xfrm>
            <a:off x="8024446" y="1301260"/>
            <a:ext cx="3522350" cy="2848707"/>
          </a:xfrm>
          <a:prstGeom prst="roundRect">
            <a:avLst/>
          </a:prstGeom>
          <a:solidFill>
            <a:srgbClr val="92D050">
              <a:alpha val="3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F0BDE10-8E6E-51CB-AD16-5F8A714979C4}"/>
              </a:ext>
            </a:extLst>
          </p:cNvPr>
          <p:cNvSpPr/>
          <p:nvPr/>
        </p:nvSpPr>
        <p:spPr>
          <a:xfrm>
            <a:off x="645204" y="4337536"/>
            <a:ext cx="3522350" cy="2485294"/>
          </a:xfrm>
          <a:prstGeom prst="roundRect">
            <a:avLst/>
          </a:prstGeom>
          <a:solidFill>
            <a:srgbClr val="00B0F0">
              <a:alpha val="3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24383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91D866-ABB7-75A2-6F0C-E52B54978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479"/>
            <a:ext cx="12192000" cy="656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3327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33BA5FD-C705-1257-0104-B5B06B1BD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1" y="0"/>
            <a:ext cx="121353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3972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FE9217E-577F-B231-2CCC-7D3F10DC5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" y="0"/>
            <a:ext cx="121862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5901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431435-5EA3-3856-38B8-5432AEF68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27" y="0"/>
            <a:ext cx="115263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5707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0D7D1-019D-3A99-DEB7-8399C9F2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8C1C05-3F4F-0B49-29BB-28CF90724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3971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827</Words>
  <Application>Microsoft Office PowerPoint</Application>
  <PresentationFormat>Широкоэкранный</PresentationFormat>
  <Paragraphs>27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3" baseType="lpstr">
      <vt:lpstr>Arial</vt:lpstr>
      <vt:lpstr>Calibri</vt:lpstr>
      <vt:lpstr>Calibri Light</vt:lpstr>
      <vt:lpstr>Open Sans</vt:lpstr>
      <vt:lpstr>YS Text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Oesune</dc:creator>
  <cp:lastModifiedBy>Oesune</cp:lastModifiedBy>
  <cp:revision>10</cp:revision>
  <dcterms:created xsi:type="dcterms:W3CDTF">2026-10-01T03:30:08Z</dcterms:created>
  <dcterms:modified xsi:type="dcterms:W3CDTF">2026-10-01T05:00:10Z</dcterms:modified>
</cp:coreProperties>
</file>